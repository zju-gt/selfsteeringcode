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92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E0C60-18E6-43C7-BDB6-A0C2EA033547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B4326-63FF-44E4-B589-8E8259A31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70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B4326-63FF-44E4-B589-8E8259A31D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40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D95C-B039-4790-549F-3754829D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50351B-858E-5A3B-8B88-FB70CEEBA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928CC7-106E-963E-483A-CB523F780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44C8E0-081B-CECF-E080-52347539A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B4326-63FF-44E4-B589-8E8259A31D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23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B4326-63FF-44E4-B589-8E8259A31D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20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0D17-DF7A-2CCC-3364-1618DC69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20D7F4-2DC5-0488-E975-6E946B1EF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CF9E3A-3072-243A-0A24-B931F01EF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BA361C-8C02-1168-E01C-48425E94C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B4326-63FF-44E4-B589-8E8259A31D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54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55E1-69CC-09E3-52F5-3456926D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2965EE-D50E-6556-0463-AA8DA65CD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FF1F2A-4F0B-CE20-0157-EA71DA7FB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A74EB-38AB-A692-FD32-B97FEBAE6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B4326-63FF-44E4-B589-8E8259A31D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76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9506D-C5AC-09E3-811B-C2A35F86E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7D7112-70F2-823A-0C92-56C27A5ED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8DB2E2-B9CF-9BB9-0CD9-B1F9837F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A8CE3-5044-A430-CE47-FFA981D5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4BF52-3557-94E3-530D-BA36AC4B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96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F5ABD-5B96-5E84-9907-E7C7D197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715A2-8E52-57C1-2C57-46A8C6FE7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011F6E-A792-D227-D062-338AAFFD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C32CD-82D5-6739-E001-DE6E9DCF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CD541D-04E8-3917-0FEC-A9BE865D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8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867F0-84C2-F4A8-FD35-000B74D12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5E15AE-4C8C-5F95-A2FC-4099DD12D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E04C5-9DBA-EFF4-BF76-8DD3AD7D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9D2F7-ABAB-D079-4DDD-565CB25F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BBF32-F1CA-9665-B029-36A17346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42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923BD-9E3C-F246-D267-4BCF871F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1F4AD-95C5-FD6D-1CFB-9E93145CB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74FD63-900C-C068-5158-533EE966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B1D70-F59D-DB4B-6DBF-CBD3291A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421394-A5A1-C34C-DC3E-9F52338B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85CB7-D47D-A961-6742-FA5A2B3A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18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632D7-2A99-B87E-6438-4B22CC52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BA9427-58F1-93BB-AF98-1583960D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FD00F3-A43D-0063-124D-CC2EAAA8B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79DB3E-9E4C-E95F-F9E2-21C2B8B0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5AD0C3-2A2F-A806-25A9-1B7A1405F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01C615-6A25-A76B-9BBC-D87D924E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95F016-40DC-E218-7193-CDCABD49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CAF051-F0DA-CC97-23FC-E4521352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22857-CB31-7D18-90EE-02A3FEDB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7AAF37-877A-F7CF-6DC6-1A86B70A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6FD1E0-D17F-2E92-6201-13F9E741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CE2795-D1DD-CE74-4820-27A16F37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98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8EC55B-CC3F-1CDB-E0BF-7250D10A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29B48A-B6F9-C35C-8E9A-FDCF59F2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508B3-A95D-B60F-537F-64A92475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15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075D0-2B48-BBC6-442A-BD1618D6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BF3B2A-54AE-B6C8-3A6E-817CC21F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178B11-FC6B-1834-9993-D5AE02EFD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BD7851-83BC-56E9-D98B-6A8BE029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AFB628-426C-1B98-81F6-6D1EC534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EDB742-EA5F-BABD-E251-5FCC8823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80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01201-DC6D-BB37-73CE-E2573EA2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9082B7-7B9F-0D0F-EBDE-6C5B8A572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7A5F72-CC53-1DAC-421B-BE702496D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41E03-A802-0E11-4C59-1AD78E33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DE8DC0-4934-8371-038A-1284D933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8C4410-CA8D-EAB0-8894-1BE6F5DD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396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BFB1E-4ADF-6A07-BA41-8DAA5BD0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E63002-3AA3-AFBE-2BF5-BF48EE6FB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3FBBA-530E-3A71-F593-57ECEB1A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D52A32-E5CC-1A96-A7E3-347DF4F3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CE4AFA-9AF8-9D7A-DBF9-ECA66B79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68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BCAA51-B993-7F07-72C3-540BC883C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B1CA19-6ECF-9FA9-46B6-E5E574EDD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ADE82-31F9-8741-37F3-3C5753CB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5986EC-1D39-ED44-5224-310B5A89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2E51F6-A003-D02D-B177-B11D7E91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0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4B55ED-E9D3-8B94-A8AF-0CF2E483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96F0B-161A-982A-6F6E-8A3B23A4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FCF6D-8653-4F59-923B-07E148E67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1B8FC-7B90-4F61-93D6-60FB48CA46A8}" type="datetimeFigureOut">
              <a:rPr lang="zh-CN" altLang="en-US" smtClean="0"/>
              <a:t>2026-08-18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AC320-25BC-F4DC-992B-AF9067760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4A2BFD-ED36-04E8-28DE-EBB9C4E9D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4DB54-12C0-47DE-9842-9552F7858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42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F9D2EE1-BCCF-6592-B6B7-65C2E9441A43}"/>
              </a:ext>
            </a:extLst>
          </p:cNvPr>
          <p:cNvSpPr txBox="1"/>
          <p:nvPr/>
        </p:nvSpPr>
        <p:spPr>
          <a:xfrm>
            <a:off x="798671" y="3053060"/>
            <a:ext cx="10594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Lora Medium" charset="0"/>
                <a:cs typeface="Lora Medium" charset="0"/>
              </a:rPr>
              <a:t>Self-Steering: LLMs as Their Own Feature Controllers</a:t>
            </a:r>
          </a:p>
        </p:txBody>
      </p:sp>
    </p:spTree>
    <p:extLst>
      <p:ext uri="{BB962C8B-B14F-4D97-AF65-F5344CB8AC3E}">
        <p14:creationId xmlns:p14="http://schemas.microsoft.com/office/powerpoint/2010/main" val="306111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C50577C-4D22-A0BA-F2EC-3B84F9735F77}"/>
              </a:ext>
            </a:extLst>
          </p:cNvPr>
          <p:cNvSpPr txBox="1"/>
          <p:nvPr/>
        </p:nvSpPr>
        <p:spPr>
          <a:xfrm>
            <a:off x="222884" y="1897187"/>
            <a:ext cx="5977891" cy="3418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神经科学中的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compositional control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表明，面对新的任务，大脑并不一定需要重新学习一套完整的控制策略，而可能复用已有的神经表征，并根据当前任务需求对这些内部成分进行重新组合。复杂行为因此可以被理解为一组基础控制单元的灵活组合，而不是彼此独立的任务特定机制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我们认为，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中可能存在类似的结构。不同问题虽然表面形式不同，但其推理过程往往依赖一组重复出现的内部能力，例如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reasoning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inference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checking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。因此，一个具体任务所需要的可能并不是一种全新的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capability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，而是对已有内部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features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的不同组合。</a:t>
            </a:r>
            <a:endParaRPr lang="en-US" altLang="zh-CN" sz="1400" b="1" dirty="0">
              <a:solidFill>
                <a:srgbClr val="1F1F1F"/>
              </a:solidFill>
              <a:latin typeface="Lora Medium" charset="0"/>
              <a:ea typeface="思源宋体 CN" panose="02020700000000000000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F9C96E-3C7E-E913-3B82-FE1D7948EB61}"/>
              </a:ext>
            </a:extLst>
          </p:cNvPr>
          <p:cNvSpPr txBox="1"/>
          <p:nvPr/>
        </p:nvSpPr>
        <p:spPr>
          <a:xfrm>
            <a:off x="222884" y="167640"/>
            <a:ext cx="88639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Lora Medium" charset="0"/>
                <a:cs typeface="Lora Medium" charset="0"/>
              </a:rPr>
              <a:t>BACKGROUND</a:t>
            </a:r>
          </a:p>
          <a:p>
            <a:endParaRPr lang="en-US" altLang="zh-CN" sz="2400" b="1" dirty="0">
              <a:latin typeface="Lora Medium" charset="0"/>
              <a:cs typeface="Lora Medium" charset="0"/>
            </a:endParaRPr>
          </a:p>
          <a:p>
            <a:r>
              <a:rPr lang="en-US" altLang="zh-CN" sz="2000" b="1" i="1" dirty="0">
                <a:latin typeface="Lora Medium" charset="0"/>
                <a:cs typeface="Lora Medium" charset="0"/>
              </a:rPr>
              <a:t>From Compositional Control to Compositional Reasoning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C97A0E-273D-B356-DE48-9FAF5339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240" y="1974244"/>
            <a:ext cx="4945709" cy="290951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4953C64-206F-410D-F0AD-4461D6ED1B61}"/>
              </a:ext>
            </a:extLst>
          </p:cNvPr>
          <p:cNvSpPr txBox="1"/>
          <p:nvPr/>
        </p:nvSpPr>
        <p:spPr>
          <a:xfrm>
            <a:off x="8195161" y="4945203"/>
            <a:ext cx="1967866" cy="379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脑区不同的神经表征</a:t>
            </a:r>
            <a:endParaRPr lang="en-US" altLang="zh-CN" sz="1400" b="1" dirty="0">
              <a:solidFill>
                <a:srgbClr val="1F1F1F"/>
              </a:solidFill>
              <a:latin typeface="Lora Medium" charset="0"/>
              <a:ea typeface="思源宋体 CN" panose="02020700000000000000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527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6FC59-6E6B-BDCB-20C4-1B2CCDE0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6A72AFA-6A39-0B1F-57AC-B07ABDE29AEA}"/>
              </a:ext>
            </a:extLst>
          </p:cNvPr>
          <p:cNvSpPr txBox="1"/>
          <p:nvPr/>
        </p:nvSpPr>
        <p:spPr>
          <a:xfrm>
            <a:off x="222884" y="1897187"/>
            <a:ext cx="5977891" cy="3742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已有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steering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工作已经表明，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的推理行为可以通过内部表示进行干预。然而，大多数方法仍然将模型视为一个被动接受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的对象：需要研究者提前指定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 direction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，或者额外训练一个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model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，来判断一个输入应该激活哪些内部方向。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但这带来了一个自然的问题：如果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本身已经能够理解一个问题需要怎样的推理策略，为什么还需要另一个外部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告诉它应该使用哪些内部能力？ 例如，当模型看到一个数学问题时，它本身可能已经能够判断该问题更依赖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manipulation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deduction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还是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。我们因此希望利用这种任务理解能力，让模型直接参与自身内部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的选择。</a:t>
            </a:r>
            <a:endParaRPr lang="en-US" altLang="zh-CN" sz="1400" b="1" dirty="0">
              <a:solidFill>
                <a:srgbClr val="1F1F1F"/>
              </a:solidFill>
              <a:latin typeface="Lora Medium" charset="0"/>
              <a:ea typeface="思源宋体 CN" panose="02020700000000000000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7DF7C4-77D7-DF05-640B-BB2AC84517D6}"/>
              </a:ext>
            </a:extLst>
          </p:cNvPr>
          <p:cNvSpPr txBox="1"/>
          <p:nvPr/>
        </p:nvSpPr>
        <p:spPr>
          <a:xfrm>
            <a:off x="222884" y="167640"/>
            <a:ext cx="88639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Lora Medium" charset="0"/>
                <a:cs typeface="Lora Medium" charset="0"/>
              </a:rPr>
              <a:t>MOTIVATION</a:t>
            </a:r>
          </a:p>
          <a:p>
            <a:endParaRPr lang="en-US" altLang="zh-CN" sz="2400" b="1" dirty="0">
              <a:latin typeface="Lora Medium" charset="0"/>
              <a:cs typeface="Lora Medium" charset="0"/>
            </a:endParaRPr>
          </a:p>
          <a:p>
            <a:r>
              <a:rPr lang="en-US" altLang="zh-CN" sz="2000" b="1" i="1" dirty="0">
                <a:latin typeface="Lora Medium" charset="0"/>
                <a:cs typeface="Lora Medium" charset="0"/>
              </a:rPr>
              <a:t>Who Should Decide Which Features to Activate?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B640B7-F72D-F24C-3591-CC8007D957ED}"/>
              </a:ext>
            </a:extLst>
          </p:cNvPr>
          <p:cNvSpPr txBox="1"/>
          <p:nvPr/>
        </p:nvSpPr>
        <p:spPr>
          <a:xfrm>
            <a:off x="8195161" y="4945203"/>
            <a:ext cx="1967866" cy="379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steering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示意图</a:t>
            </a:r>
            <a:endParaRPr lang="en-US" altLang="zh-CN" sz="1400" b="1" dirty="0">
              <a:solidFill>
                <a:srgbClr val="1F1F1F"/>
              </a:solidFill>
              <a:latin typeface="Lora Medium" charset="0"/>
              <a:ea typeface="思源宋体 CN" panose="02020700000000000000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D00B72-B595-6BE6-FA6C-D780C35BD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931"/>
          <a:stretch>
            <a:fillRect/>
          </a:stretch>
        </p:blipFill>
        <p:spPr>
          <a:xfrm>
            <a:off x="6552576" y="1293264"/>
            <a:ext cx="5253035" cy="33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0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F962-F46F-D659-5CC7-0DCA0853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7C94928-D2E0-F126-A59F-9521C205DC99}"/>
              </a:ext>
            </a:extLst>
          </p:cNvPr>
          <p:cNvSpPr txBox="1"/>
          <p:nvPr/>
        </p:nvSpPr>
        <p:spPr>
          <a:xfrm>
            <a:off x="222884" y="1897187"/>
            <a:ext cx="11311891" cy="3415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1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｜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as Inherent Feature Steerers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我们提出：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self-reflection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本质上已经在隐式触发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内部的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amplification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2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｜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Self-Steering 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框架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我们将这一过程显式化：让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根据当前问题自主选择需要激活或抑制的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features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，并生成对应的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 configuration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。随后在整个推理过程中使用该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composition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3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｜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Effectiveness, Interpretability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我们验证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Self-Steering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在复杂推理任务上提升准确率，同时提供可解释的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feature-level intervention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387EE8-787D-37E8-6E2C-161A390766CB}"/>
              </a:ext>
            </a:extLst>
          </p:cNvPr>
          <p:cNvSpPr txBox="1"/>
          <p:nvPr/>
        </p:nvSpPr>
        <p:spPr>
          <a:xfrm>
            <a:off x="222884" y="167640"/>
            <a:ext cx="88639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Lora Medium" charset="0"/>
                <a:cs typeface="Lora Medium" charset="0"/>
              </a:rPr>
              <a:t>CONTRIBUTION</a:t>
            </a:r>
          </a:p>
          <a:p>
            <a:endParaRPr lang="en-US" altLang="zh-CN" sz="2400" b="1" dirty="0">
              <a:latin typeface="Lora Medium" charset="0"/>
              <a:cs typeface="Lora Medium" charset="0"/>
            </a:endParaRPr>
          </a:p>
          <a:p>
            <a:r>
              <a:rPr lang="en-US" altLang="zh-CN" sz="2000" b="1" i="1" dirty="0">
                <a:latin typeface="Lora Medium" charset="0"/>
                <a:cs typeface="Lora Medium" charset="0"/>
              </a:rPr>
              <a:t>Self-Steering</a:t>
            </a:r>
          </a:p>
        </p:txBody>
      </p:sp>
    </p:spTree>
    <p:extLst>
      <p:ext uri="{BB962C8B-B14F-4D97-AF65-F5344CB8AC3E}">
        <p14:creationId xmlns:p14="http://schemas.microsoft.com/office/powerpoint/2010/main" val="312596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0453-FECB-4ACB-B502-86546DAC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D078A0-97F5-3E18-A107-3FA35820AED2}"/>
              </a:ext>
            </a:extLst>
          </p:cNvPr>
          <p:cNvSpPr txBox="1"/>
          <p:nvPr/>
        </p:nvSpPr>
        <p:spPr>
          <a:xfrm>
            <a:off x="222884" y="167640"/>
            <a:ext cx="886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Lora Medium" charset="0"/>
                <a:cs typeface="Lora Medium" charset="0"/>
              </a:rPr>
              <a:t>FIGURE2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59F45E-FC72-B2BE-F0D2-2083DBF4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90" y="1206894"/>
            <a:ext cx="10605428" cy="49507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FE4275-ECF0-0ECB-1ED8-29B4005EDD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953"/>
          <a:stretch>
            <a:fillRect/>
          </a:stretch>
        </p:blipFill>
        <p:spPr>
          <a:xfrm>
            <a:off x="4254644" y="5921449"/>
            <a:ext cx="800446" cy="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2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BBE1-7A0F-3E66-6986-ACE7C39A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24621D8-87ED-74D8-3D4B-08F22A6327F6}"/>
              </a:ext>
            </a:extLst>
          </p:cNvPr>
          <p:cNvSpPr txBox="1"/>
          <p:nvPr/>
        </p:nvSpPr>
        <p:spPr>
          <a:xfrm>
            <a:off x="222884" y="167640"/>
            <a:ext cx="886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Lora Medium" charset="0"/>
                <a:cs typeface="Lora Medium" charset="0"/>
              </a:rPr>
              <a:t>MAIN TABLE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1A813A1-2705-8981-7188-B01B6D881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85838"/>
              </p:ext>
            </p:extLst>
          </p:nvPr>
        </p:nvGraphicFramePr>
        <p:xfrm>
          <a:off x="600867" y="1531110"/>
          <a:ext cx="10990266" cy="4223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038">
                  <a:extLst>
                    <a:ext uri="{9D8B030D-6E8A-4147-A177-3AD203B41FA5}">
                      <a16:colId xmlns:a16="http://schemas.microsoft.com/office/drawing/2014/main" val="2087267766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2480323535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3188548058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703132519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3537570055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440578854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43285637"/>
                    </a:ext>
                  </a:extLst>
                </a:gridCol>
              </a:tblGrid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AIME24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AIME25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AIME26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MATH500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ARC-C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OBQA</a:t>
                      </a:r>
                      <a:endParaRPr lang="zh-CN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79395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Vanilla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953646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SEAL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69914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254069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ATLAS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128936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688184"/>
                  </a:ext>
                </a:extLst>
              </a:tr>
              <a:tr h="6033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43092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F45958E-8D1B-4CF2-97C9-74766CDB3D98}"/>
              </a:ext>
            </a:extLst>
          </p:cNvPr>
          <p:cNvSpPr txBox="1"/>
          <p:nvPr/>
        </p:nvSpPr>
        <p:spPr>
          <a:xfrm>
            <a:off x="600867" y="889514"/>
            <a:ext cx="4749314" cy="38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还在考虑用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Qwen2.5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还是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，应该是用两个模型</a:t>
            </a:r>
            <a:endParaRPr lang="en-US" altLang="zh-CN" sz="1400" b="1" dirty="0">
              <a:solidFill>
                <a:srgbClr val="1F1F1F"/>
              </a:solidFill>
              <a:latin typeface="Lora Medium" charset="0"/>
              <a:ea typeface="思源宋体 CN" panose="02020700000000000000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767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699</Words>
  <Application>Microsoft Office PowerPoint</Application>
  <PresentationFormat>宽屏</PresentationFormat>
  <Paragraphs>47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Lora Medium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yucheng Wang</dc:creator>
  <cp:lastModifiedBy>yucheng Wang</cp:lastModifiedBy>
  <cp:revision>8</cp:revision>
  <dcterms:created xsi:type="dcterms:W3CDTF">2026-08-17T05:50:48Z</dcterms:created>
  <dcterms:modified xsi:type="dcterms:W3CDTF">2026-08-18T04:55:12Z</dcterms:modified>
</cp:coreProperties>
</file>